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1" r:id="rId4"/>
    <p:sldId id="259" r:id="rId5"/>
    <p:sldId id="264" r:id="rId6"/>
    <p:sldId id="262" r:id="rId7"/>
    <p:sldId id="263" r:id="rId8"/>
    <p:sldId id="265" r:id="rId9"/>
    <p:sldId id="257" r:id="rId10"/>
    <p:sldId id="260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3D893-0302-428F-85EA-65A0627DE601}" v="59" dt="2026-01-20T14:01:59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shti sharma" userId="d710d6dd1ca32dda" providerId="LiveId" clId="{5B9928E6-5E66-46E5-AB28-251D8DD0B32C}"/>
    <pc:docChg chg="modSld">
      <pc:chgData name="Srashti sharma" userId="d710d6dd1ca32dda" providerId="LiveId" clId="{5B9928E6-5E66-46E5-AB28-251D8DD0B32C}" dt="2026-01-21T04:48:47.391" v="0" actId="20577"/>
      <pc:docMkLst>
        <pc:docMk/>
      </pc:docMkLst>
      <pc:sldChg chg="modSp mod">
        <pc:chgData name="Srashti sharma" userId="d710d6dd1ca32dda" providerId="LiveId" clId="{5B9928E6-5E66-46E5-AB28-251D8DD0B32C}" dt="2026-01-21T04:48:47.391" v="0" actId="20577"/>
        <pc:sldMkLst>
          <pc:docMk/>
          <pc:sldMk cId="2645328775" sldId="261"/>
        </pc:sldMkLst>
        <pc:spChg chg="mod">
          <ac:chgData name="Srashti sharma" userId="d710d6dd1ca32dda" providerId="LiveId" clId="{5B9928E6-5E66-46E5-AB28-251D8DD0B32C}" dt="2026-01-21T04:48:47.391" v="0" actId="20577"/>
          <ac:spMkLst>
            <pc:docMk/>
            <pc:sldMk cId="2645328775" sldId="261"/>
            <ac:spMk id="7" creationId="{2A3D0572-8820-F803-5EB1-B1D2568DF1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74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0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59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55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06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36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4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94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15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1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94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9151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122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24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040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77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29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6CBBC-F824-4B79-AE14-BC28C9B5ABD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3FE4B-68F8-4DA2-BC4F-201887280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5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595266-82DE-C7A4-6ABA-36EBC9E485EC}"/>
              </a:ext>
            </a:extLst>
          </p:cNvPr>
          <p:cNvSpPr/>
          <p:nvPr/>
        </p:nvSpPr>
        <p:spPr>
          <a:xfrm>
            <a:off x="2782530" y="1868589"/>
            <a:ext cx="7295534" cy="17206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SQL PROJECT ON 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B2385F-9DC1-3AF5-B1EF-455AE257CE76}"/>
              </a:ext>
            </a:extLst>
          </p:cNvPr>
          <p:cNvSpPr/>
          <p:nvPr/>
        </p:nvSpPr>
        <p:spPr>
          <a:xfrm>
            <a:off x="3564193" y="3871503"/>
            <a:ext cx="5732207" cy="259520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400" b="1" i="1" dirty="0">
                <a:solidFill>
                  <a:schemeClr val="bg1"/>
                </a:solidFill>
                <a:latin typeface="Aptos" panose="020B0004020202020204" pitchFamily="34" charset="0"/>
              </a:rPr>
              <a:t>TEAM ID:</a:t>
            </a:r>
            <a:r>
              <a:rPr lang="en-IN" sz="2400" b="1" i="1" dirty="0">
                <a:solidFill>
                  <a:schemeClr val="bg1"/>
                </a:solidFill>
              </a:rPr>
              <a:t>PTID-CDA-JAN-26-1134</a:t>
            </a:r>
          </a:p>
          <a:p>
            <a:pPr algn="just"/>
            <a:r>
              <a:rPr lang="en-IN" sz="2400" b="1" i="1" dirty="0">
                <a:solidFill>
                  <a:schemeClr val="bg1"/>
                </a:solidFill>
                <a:latin typeface="Aptos" panose="020B0004020202020204" pitchFamily="34" charset="0"/>
              </a:rPr>
              <a:t>PROJECT ID: PRSQL-01 IMDB MOVIES</a:t>
            </a:r>
          </a:p>
          <a:p>
            <a:pPr algn="just"/>
            <a:r>
              <a:rPr lang="en-IN" sz="2400" b="1" i="1" dirty="0">
                <a:solidFill>
                  <a:schemeClr val="bg1"/>
                </a:solidFill>
                <a:latin typeface="Aptos" panose="020B0004020202020204" pitchFamily="34" charset="0"/>
              </a:rPr>
              <a:t>NAME:SRASHTI DUBEY</a:t>
            </a:r>
          </a:p>
          <a:p>
            <a:pPr algn="just"/>
            <a:r>
              <a:rPr lang="en-IN" sz="2400" b="1" i="1" dirty="0">
                <a:solidFill>
                  <a:schemeClr val="bg1"/>
                </a:solidFill>
                <a:latin typeface="Aptos" panose="020B0004020202020204" pitchFamily="34" charset="0"/>
              </a:rPr>
              <a:t>EMAIL ID:srashtidubey73@gmail.com</a:t>
            </a:r>
            <a:endParaRPr lang="en-IN" sz="2400" b="1" i="1" dirty="0"/>
          </a:p>
          <a:p>
            <a:pPr algn="ctr"/>
            <a:endParaRPr lang="en-IN" sz="28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2CB430-BBCC-E6F0-BF2C-E518E078A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17" y="186145"/>
            <a:ext cx="3267075" cy="1400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rgbClr val="92D050">
                <a:alpha val="40000"/>
              </a:srgbClr>
            </a:glo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9684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CE47-1AD2-448E-158F-8514EEB1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7" y="1179871"/>
            <a:ext cx="3824751" cy="654150"/>
          </a:xfr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IN" sz="3200" b="1" i="1" dirty="0">
                <a:solidFill>
                  <a:schemeClr val="bg1"/>
                </a:solidFill>
              </a:rPr>
              <a:t>Introduction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46C369E5-B62E-7F0F-3F70-1FAB034A1D0F}"/>
              </a:ext>
            </a:extLst>
          </p:cNvPr>
          <p:cNvSpPr/>
          <p:nvPr/>
        </p:nvSpPr>
        <p:spPr>
          <a:xfrm>
            <a:off x="629261" y="2408903"/>
            <a:ext cx="4345858" cy="3588774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IMDB Movies Data Analysis</a:t>
            </a:r>
            <a:r>
              <a:rPr lang="en-US" i="1" dirty="0"/>
              <a:t> is an SQL-based project aimed at extracting insights from movie and director data. The project involves data cleaning, table joining, and analytical querying to identify popular, profitable movies and key director trends.</a:t>
            </a:r>
            <a:endParaRPr lang="en-IN" i="1" dirty="0"/>
          </a:p>
        </p:txBody>
      </p:sp>
      <p:sp>
        <p:nvSpPr>
          <p:cNvPr id="9" name="Plaque 8">
            <a:extLst>
              <a:ext uri="{FF2B5EF4-FFF2-40B4-BE49-F238E27FC236}">
                <a16:creationId xmlns:a16="http://schemas.microsoft.com/office/drawing/2014/main" id="{F345BBE1-7ADA-2B26-A820-37AEC33455EC}"/>
              </a:ext>
            </a:extLst>
          </p:cNvPr>
          <p:cNvSpPr/>
          <p:nvPr/>
        </p:nvSpPr>
        <p:spPr>
          <a:xfrm>
            <a:off x="7325033" y="2549122"/>
            <a:ext cx="4237706" cy="3531911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To analyze IMDB movie and director data using </a:t>
            </a:r>
            <a:r>
              <a:rPr lang="en-US" b="1" i="1" dirty="0"/>
              <a:t>SQL queries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To establish a relationship between Movies and Directors tables using </a:t>
            </a:r>
            <a:r>
              <a:rPr lang="en-US" b="1" i="1" dirty="0"/>
              <a:t>primary and foreign keys</a:t>
            </a:r>
            <a:r>
              <a:rPr lang="en-US" i="1" dirty="0"/>
              <a:t>.</a:t>
            </a:r>
            <a:endParaRPr lang="en-IN" b="1" i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83D9D9-31C9-6703-CB8A-18E5B3DFE375}"/>
              </a:ext>
            </a:extLst>
          </p:cNvPr>
          <p:cNvSpPr/>
          <p:nvPr/>
        </p:nvSpPr>
        <p:spPr>
          <a:xfrm>
            <a:off x="3598604" y="191035"/>
            <a:ext cx="5771536" cy="82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35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EC1612-45DB-61FB-9A2D-010CDAC06285}"/>
              </a:ext>
            </a:extLst>
          </p:cNvPr>
          <p:cNvSpPr/>
          <p:nvPr/>
        </p:nvSpPr>
        <p:spPr>
          <a:xfrm>
            <a:off x="3303638" y="951887"/>
            <a:ext cx="5584723" cy="64892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IN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Tools &amp; Technologies Used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7C7F47-F03B-763C-84A6-A7EFB29B56C2}"/>
              </a:ext>
            </a:extLst>
          </p:cNvPr>
          <p:cNvSpPr/>
          <p:nvPr/>
        </p:nvSpPr>
        <p:spPr>
          <a:xfrm>
            <a:off x="2679290" y="1755135"/>
            <a:ext cx="6833420" cy="1354854"/>
          </a:xfrm>
          <a:prstGeom prst="roundRect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Tools: </a:t>
            </a:r>
            <a:r>
              <a:rPr lang="en-IN" b="1" dirty="0"/>
              <a:t>MySQL Workbench</a:t>
            </a:r>
            <a:br>
              <a:rPr lang="en-IN" dirty="0"/>
            </a:br>
            <a:r>
              <a:rPr lang="en-IN" b="1" dirty="0">
                <a:solidFill>
                  <a:schemeClr val="bg1"/>
                </a:solidFill>
              </a:rPr>
              <a:t>Technologies: </a:t>
            </a:r>
            <a:r>
              <a:rPr lang="en-IN" b="1" dirty="0"/>
              <a:t>SQL, RDBMS</a:t>
            </a:r>
            <a:br>
              <a:rPr lang="en-IN" dirty="0"/>
            </a:br>
            <a:r>
              <a:rPr lang="en-IN" b="1" dirty="0">
                <a:solidFill>
                  <a:schemeClr val="bg1"/>
                </a:solidFill>
              </a:rPr>
              <a:t>Concepts: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b="1" dirty="0"/>
              <a:t>Joins, Aggregations, Subqueries, Data Cleaning</a:t>
            </a:r>
          </a:p>
          <a:p>
            <a:r>
              <a:rPr lang="en-IN" b="1" dirty="0">
                <a:solidFill>
                  <a:schemeClr val="bg1"/>
                </a:solidFill>
              </a:rPr>
              <a:t>Data Analysis Techniques </a:t>
            </a:r>
            <a:endParaRPr lang="en-IN" b="1" i="1" dirty="0">
              <a:solidFill>
                <a:schemeClr val="bg1"/>
              </a:solidFill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2A3D0572-8820-F803-5EB1-B1D2568DF113}"/>
              </a:ext>
            </a:extLst>
          </p:cNvPr>
          <p:cNvSpPr/>
          <p:nvPr/>
        </p:nvSpPr>
        <p:spPr>
          <a:xfrm>
            <a:off x="324462" y="3264308"/>
            <a:ext cx="4886632" cy="3431459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  <a:latin typeface="Aptos" panose="020B0004020202020204" pitchFamily="34" charset="0"/>
              </a:rPr>
              <a:t>Technologies:-</a:t>
            </a:r>
          </a:p>
          <a:p>
            <a:r>
              <a:rPr lang="en-IN" sz="2000" b="1">
                <a:solidFill>
                  <a:schemeClr val="bg1"/>
                </a:solidFill>
                <a:latin typeface="Aptos" panose="020B0004020202020204" pitchFamily="34" charset="0"/>
              </a:rPr>
              <a:t>SQL</a:t>
            </a:r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b="1" dirty="0">
                <a:latin typeface="Aptos" panose="020B0004020202020204" pitchFamily="34" charset="0"/>
              </a:rPr>
              <a:t>Core language used for:</a:t>
            </a:r>
          </a:p>
          <a:p>
            <a:pPr lvl="1"/>
            <a:r>
              <a:rPr lang="en-IN" b="1" dirty="0">
                <a:latin typeface="Aptos" panose="020B0004020202020204" pitchFamily="34" charset="0"/>
              </a:rPr>
              <a:t>Data extraction</a:t>
            </a:r>
          </a:p>
          <a:p>
            <a:pPr lvl="1"/>
            <a:r>
              <a:rPr lang="en-IN" b="1" dirty="0">
                <a:latin typeface="Aptos" panose="020B0004020202020204" pitchFamily="34" charset="0"/>
              </a:rPr>
              <a:t>Data cleaning</a:t>
            </a:r>
          </a:p>
          <a:p>
            <a:pPr lvl="1"/>
            <a:r>
              <a:rPr lang="en-IN" b="1" dirty="0">
                <a:latin typeface="Aptos" panose="020B0004020202020204" pitchFamily="34" charset="0"/>
              </a:rPr>
              <a:t>Filtering and aggregation</a:t>
            </a:r>
          </a:p>
          <a:p>
            <a:pPr lvl="1"/>
            <a:r>
              <a:rPr lang="en-IN" b="1" dirty="0">
                <a:latin typeface="Aptos" panose="020B0004020202020204" pitchFamily="34" charset="0"/>
              </a:rPr>
              <a:t>Joins and subqueries</a:t>
            </a: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5788C154-CE04-C4CB-B178-00C4A4C20F7C}"/>
              </a:ext>
            </a:extLst>
          </p:cNvPr>
          <p:cNvSpPr/>
          <p:nvPr/>
        </p:nvSpPr>
        <p:spPr>
          <a:xfrm>
            <a:off x="6292645" y="3264308"/>
            <a:ext cx="4994787" cy="3431460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Key SQL Concepts Applied</a:t>
            </a:r>
          </a:p>
          <a:p>
            <a:r>
              <a:rPr lang="en-US" sz="2400" dirty="0">
                <a:latin typeface="Aptos" panose="020B0004020202020204" pitchFamily="34" charset="0"/>
              </a:rPr>
              <a:t>* SELECT, WHERE, ORDER BY</a:t>
            </a:r>
          </a:p>
          <a:p>
            <a:r>
              <a:rPr lang="en-US" sz="2400" dirty="0">
                <a:latin typeface="Aptos" panose="020B0004020202020204" pitchFamily="34" charset="0"/>
              </a:rPr>
              <a:t>* GROUP BY, HAVING</a:t>
            </a:r>
          </a:p>
          <a:p>
            <a:r>
              <a:rPr lang="en-US" sz="2400" dirty="0">
                <a:latin typeface="Aptos" panose="020B0004020202020204" pitchFamily="34" charset="0"/>
              </a:rPr>
              <a:t>*INNER JOIN</a:t>
            </a:r>
          </a:p>
          <a:p>
            <a:r>
              <a:rPr lang="en-US" sz="2400" dirty="0">
                <a:latin typeface="Aptos" panose="020B0004020202020204" pitchFamily="34" charset="0"/>
              </a:rPr>
              <a:t>*Aggregate Functions (COUNT, SUM, MAX)</a:t>
            </a:r>
          </a:p>
          <a:p>
            <a:r>
              <a:rPr lang="en-US" sz="2400" dirty="0">
                <a:latin typeface="Aptos" panose="020B0004020202020204" pitchFamily="34" charset="0"/>
              </a:rPr>
              <a:t>*Subqueries</a:t>
            </a:r>
          </a:p>
          <a:p>
            <a:r>
              <a:rPr lang="en-US" sz="2400" dirty="0">
                <a:latin typeface="Aptos" panose="020B0004020202020204" pitchFamily="34" charset="0"/>
              </a:rPr>
              <a:t>*Filtering using LIKE and 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2A35BC-AB4C-FCD8-1A6D-5DEE6EF11DD8}"/>
              </a:ext>
            </a:extLst>
          </p:cNvPr>
          <p:cNvSpPr/>
          <p:nvPr/>
        </p:nvSpPr>
        <p:spPr>
          <a:xfrm>
            <a:off x="3392129" y="148639"/>
            <a:ext cx="5496232" cy="64892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32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9F745E-8ED5-9E1B-6E15-AFBC305EE351}"/>
              </a:ext>
            </a:extLst>
          </p:cNvPr>
          <p:cNvSpPr/>
          <p:nvPr/>
        </p:nvSpPr>
        <p:spPr>
          <a:xfrm>
            <a:off x="868803" y="1126047"/>
            <a:ext cx="4804086" cy="102509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DATASET DESCRIPTION</a:t>
            </a:r>
            <a:endParaRPr lang="en-IN" sz="3200" b="1" i="1" cap="all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97F2039D-8BB6-E517-1790-2636B81FCBAD}"/>
              </a:ext>
            </a:extLst>
          </p:cNvPr>
          <p:cNvSpPr/>
          <p:nvPr/>
        </p:nvSpPr>
        <p:spPr>
          <a:xfrm>
            <a:off x="298208" y="2497815"/>
            <a:ext cx="5945276" cy="1641566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1" dirty="0">
                <a:solidFill>
                  <a:srgbClr val="FFFF00"/>
                </a:solidFill>
                <a:latin typeface="Aptos" panose="020B0004020202020204" pitchFamily="34" charset="0"/>
              </a:rPr>
              <a:t>Table Directors: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Name:</a:t>
            </a:r>
            <a:r>
              <a:rPr lang="en-US" i="1" dirty="0">
                <a:latin typeface="Aptos" panose="020B0004020202020204" pitchFamily="34" charset="0"/>
              </a:rPr>
              <a:t> Name of the Director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ID: </a:t>
            </a:r>
            <a:r>
              <a:rPr lang="en-US" i="1" dirty="0">
                <a:latin typeface="Aptos" panose="020B0004020202020204" pitchFamily="34" charset="0"/>
              </a:rPr>
              <a:t>Unique ID of the Directors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Gender: </a:t>
            </a:r>
            <a:r>
              <a:rPr lang="en-US" i="1" dirty="0">
                <a:latin typeface="Aptos" panose="020B0004020202020204" pitchFamily="34" charset="0"/>
              </a:rPr>
              <a:t>Gender of the Director→ 0/2=Male, 1=Female </a:t>
            </a: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Department: </a:t>
            </a:r>
            <a:r>
              <a:rPr lang="en-US" i="1" dirty="0">
                <a:latin typeface="Aptos" panose="020B0004020202020204" pitchFamily="34" charset="0"/>
              </a:rPr>
              <a:t>Department of the Directors</a:t>
            </a:r>
            <a:endParaRPr lang="en-IN" b="1" i="1" dirty="0">
              <a:latin typeface="Aptos" panose="020B0004020202020204" pitchFamily="34" charset="0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3A5AF4BE-029B-5AD4-ECB0-8B6431CD253C}"/>
              </a:ext>
            </a:extLst>
          </p:cNvPr>
          <p:cNvSpPr/>
          <p:nvPr/>
        </p:nvSpPr>
        <p:spPr>
          <a:xfrm>
            <a:off x="6420465" y="1533833"/>
            <a:ext cx="5630641" cy="5211096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1" dirty="0">
                <a:solidFill>
                  <a:srgbClr val="FFFF00"/>
                </a:solidFill>
                <a:latin typeface="Aptos" panose="020B0004020202020204" pitchFamily="34" charset="0"/>
              </a:rPr>
              <a:t>Table Movies: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ID: </a:t>
            </a:r>
            <a:r>
              <a:rPr lang="en-US" i="1" dirty="0">
                <a:latin typeface="Aptos" panose="020B0004020202020204" pitchFamily="34" charset="0"/>
              </a:rPr>
              <a:t>Unique Id for Movies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Original title: </a:t>
            </a:r>
            <a:r>
              <a:rPr lang="en-US" i="1" dirty="0">
                <a:latin typeface="Aptos" panose="020B0004020202020204" pitchFamily="34" charset="0"/>
              </a:rPr>
              <a:t>Movie name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Budget: </a:t>
            </a:r>
            <a:r>
              <a:rPr lang="en-US" i="1" dirty="0">
                <a:latin typeface="Aptos" panose="020B0004020202020204" pitchFamily="34" charset="0"/>
              </a:rPr>
              <a:t>Budget of the movie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Popularity: </a:t>
            </a:r>
            <a:r>
              <a:rPr lang="en-US" i="1" dirty="0">
                <a:latin typeface="Aptos" panose="020B0004020202020204" pitchFamily="34" charset="0"/>
              </a:rPr>
              <a:t>Popularity of the Movie </a:t>
            </a: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Release Date: </a:t>
            </a:r>
            <a:r>
              <a:rPr lang="en-US" i="1" dirty="0">
                <a:latin typeface="Aptos" panose="020B0004020202020204" pitchFamily="34" charset="0"/>
              </a:rPr>
              <a:t>Release date for the movies </a:t>
            </a: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Revenue: </a:t>
            </a:r>
            <a:r>
              <a:rPr lang="en-US" i="1" dirty="0">
                <a:latin typeface="Aptos" panose="020B0004020202020204" pitchFamily="34" charset="0"/>
              </a:rPr>
              <a:t>Revenue collected movie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Title: </a:t>
            </a:r>
            <a:r>
              <a:rPr lang="en-US" i="1" dirty="0">
                <a:latin typeface="Aptos" panose="020B0004020202020204" pitchFamily="34" charset="0"/>
              </a:rPr>
              <a:t>Initial title of the movie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Vote Average: </a:t>
            </a:r>
            <a:r>
              <a:rPr lang="en-US" i="1" dirty="0">
                <a:latin typeface="Aptos" panose="020B0004020202020204" pitchFamily="34" charset="0"/>
              </a:rPr>
              <a:t>Average IMDB rating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Vote Count: </a:t>
            </a:r>
            <a:r>
              <a:rPr lang="en-US" i="1" dirty="0">
                <a:latin typeface="Aptos" panose="020B0004020202020204" pitchFamily="34" charset="0"/>
              </a:rPr>
              <a:t>Number of Vote the movie got </a:t>
            </a: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Overview: </a:t>
            </a:r>
            <a:r>
              <a:rPr lang="en-US" i="1" dirty="0">
                <a:latin typeface="Aptos" panose="020B0004020202020204" pitchFamily="34" charset="0"/>
              </a:rPr>
              <a:t>Description of the movie </a:t>
            </a: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Tagline: </a:t>
            </a:r>
            <a:r>
              <a:rPr lang="en-US" i="1" dirty="0">
                <a:latin typeface="Aptos" panose="020B0004020202020204" pitchFamily="34" charset="0"/>
              </a:rPr>
              <a:t>Tagline of the Movie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UID: </a:t>
            </a:r>
            <a:r>
              <a:rPr lang="en-US" i="1" dirty="0">
                <a:latin typeface="Aptos" panose="020B0004020202020204" pitchFamily="34" charset="0"/>
              </a:rPr>
              <a:t>Unique ID for Movie </a:t>
            </a:r>
          </a:p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Director ID: </a:t>
            </a:r>
            <a:r>
              <a:rPr lang="en-US" i="1" dirty="0">
                <a:latin typeface="Aptos" panose="020B0004020202020204" pitchFamily="34" charset="0"/>
              </a:rPr>
              <a:t>Director ID </a:t>
            </a:r>
            <a:endParaRPr lang="en-IN" b="1" i="1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B5CA4E-EBD6-3D73-C78A-E640B3A31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15" y="4463844"/>
            <a:ext cx="4290841" cy="2163299"/>
          </a:xfrm>
          <a:prstGeom prst="rect">
            <a:avLst/>
          </a:prstGeom>
          <a:ln>
            <a:noFill/>
          </a:ln>
          <a:effectLst>
            <a:glow rad="228600">
              <a:srgbClr val="92D050">
                <a:alpha val="4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sunset" dir="t"/>
          </a:scene3d>
          <a:sp3d prstMaterial="translucentPowder"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88B453-D2C3-AACE-05C8-AA52CF7D22BA}"/>
              </a:ext>
            </a:extLst>
          </p:cNvPr>
          <p:cNvSpPr/>
          <p:nvPr/>
        </p:nvSpPr>
        <p:spPr>
          <a:xfrm>
            <a:off x="3534697" y="135908"/>
            <a:ext cx="5771536" cy="82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17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0F251A-3FC6-7942-2320-163BA4FA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1" y="104826"/>
            <a:ext cx="3842360" cy="7800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4CB4D8-ED07-17AF-0A17-31D33414D82E}"/>
              </a:ext>
            </a:extLst>
          </p:cNvPr>
          <p:cNvSpPr/>
          <p:nvPr/>
        </p:nvSpPr>
        <p:spPr>
          <a:xfrm>
            <a:off x="8386916" y="203149"/>
            <a:ext cx="3677264" cy="1458503"/>
          </a:xfrm>
          <a:prstGeom prst="ellipse">
            <a:avLst/>
          </a:prstGeom>
          <a:gradFill flip="none" rotWithShape="1">
            <a:gsLst>
              <a:gs pos="0">
                <a:srgbClr val="00B050"/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effectLst>
            <a:glow rad="2286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KEY SQL CONCEPTS   DEMONSTRATED</a:t>
            </a:r>
            <a:endParaRPr lang="en-IN" sz="20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FDE531-18FC-90B3-B863-13A6A6005F45}"/>
              </a:ext>
            </a:extLst>
          </p:cNvPr>
          <p:cNvSpPr/>
          <p:nvPr/>
        </p:nvSpPr>
        <p:spPr>
          <a:xfrm>
            <a:off x="127820" y="1582994"/>
            <a:ext cx="9635611" cy="5071857"/>
          </a:xfrm>
          <a:prstGeom prst="roundRect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Data Filtering and Cleaning:-</a:t>
            </a:r>
            <a:br>
              <a:rPr lang="en-US" dirty="0"/>
            </a:br>
            <a:r>
              <a:rPr lang="en-US" b="1" dirty="0">
                <a:latin typeface="Aptos" panose="020B0004020202020204" pitchFamily="34" charset="0"/>
              </a:rPr>
              <a:t>Applied NULL value checks and validation to ensure data accuracy before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Multi-Table Joins and Relational Mapping:-</a:t>
            </a:r>
            <a:br>
              <a:rPr lang="en-US" dirty="0"/>
            </a:br>
            <a:r>
              <a:rPr lang="en-US" b="1" i="1" dirty="0">
                <a:latin typeface="Aptos" panose="020B0004020202020204" pitchFamily="34" charset="0"/>
              </a:rPr>
              <a:t>Used INNER JOIN to combine Movies and Directors tables through primary–foreign key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Aggregation and Grouping for Trend Analysis:-</a:t>
            </a:r>
            <a:br>
              <a:rPr lang="en-US" b="1" i="1" dirty="0">
                <a:latin typeface="Aptos" panose="020B0004020202020204" pitchFamily="34" charset="0"/>
              </a:rPr>
            </a:br>
            <a:r>
              <a:rPr lang="en-US" b="1" i="1" dirty="0">
                <a:latin typeface="Aptos" panose="020B0004020202020204" pitchFamily="34" charset="0"/>
              </a:rPr>
              <a:t>Implemented COUNT, SUM, MAX, and GROUP BY to analyze movie performance and director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String and Date Manipulation:-</a:t>
            </a:r>
            <a:br>
              <a:rPr lang="en-US" b="1" i="1" dirty="0">
                <a:latin typeface="Aptos" panose="020B0004020202020204" pitchFamily="34" charset="0"/>
              </a:rPr>
            </a:br>
            <a:r>
              <a:rPr lang="en-US" b="1" i="1" dirty="0">
                <a:latin typeface="Aptos" panose="020B0004020202020204" pitchFamily="34" charset="0"/>
              </a:rPr>
              <a:t>Used LIKE, IN, and date filters to extract meaningful subsets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Readable and Optimized SQL Queries:-</a:t>
            </a:r>
            <a:br>
              <a:rPr lang="en-US" dirty="0"/>
            </a:br>
            <a:r>
              <a:rPr lang="en-US" b="1" i="1" dirty="0">
                <a:latin typeface="Aptos" panose="020B0004020202020204" pitchFamily="34" charset="0"/>
              </a:rPr>
              <a:t>Queries were written with clear structure and proper formatting for better performance and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Business-Driven SQL Logic:-</a:t>
            </a:r>
            <a:br>
              <a:rPr lang="en-US" b="1" i="1" dirty="0">
                <a:latin typeface="Aptos" panose="020B0004020202020204" pitchFamily="34" charset="0"/>
              </a:rPr>
            </a:br>
            <a:r>
              <a:rPr lang="en-US" b="1" i="1" dirty="0">
                <a:latin typeface="Aptos" panose="020B0004020202020204" pitchFamily="34" charset="0"/>
              </a:rPr>
              <a:t>Applied real-world business logic to identify popular movies, bankable directors, and voting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i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37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136C58-C638-0C21-0901-DBC73BFF01E1}"/>
              </a:ext>
            </a:extLst>
          </p:cNvPr>
          <p:cNvSpPr/>
          <p:nvPr/>
        </p:nvSpPr>
        <p:spPr>
          <a:xfrm>
            <a:off x="3185650" y="1361772"/>
            <a:ext cx="6518787" cy="59976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i="1">
                <a:solidFill>
                  <a:schemeClr val="bg1"/>
                </a:solidFill>
                <a:latin typeface="Aptos" panose="020B0004020202020204" pitchFamily="34" charset="0"/>
              </a:rPr>
              <a:t>Data Preparation Workflow</a:t>
            </a:r>
            <a:endParaRPr lang="en-US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795BCF-B1DE-5BD9-C447-5BC4446CB15D}"/>
              </a:ext>
            </a:extLst>
          </p:cNvPr>
          <p:cNvSpPr/>
          <p:nvPr/>
        </p:nvSpPr>
        <p:spPr>
          <a:xfrm>
            <a:off x="1696065" y="2349907"/>
            <a:ext cx="3451122" cy="1769807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DATA CONNECTION</a:t>
            </a:r>
            <a:endParaRPr lang="en-IN" b="1" i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B610D8-B8A5-375E-34E3-6EE72442D4EC}"/>
              </a:ext>
            </a:extLst>
          </p:cNvPr>
          <p:cNvSpPr/>
          <p:nvPr/>
        </p:nvSpPr>
        <p:spPr>
          <a:xfrm>
            <a:off x="7678993" y="5024269"/>
            <a:ext cx="3451122" cy="1769807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     </a:t>
            </a:r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SQL ANALYSIS</a:t>
            </a:r>
          </a:p>
          <a:p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          (TASK)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DEA70E-8854-6F3C-17C9-3E32A9D4C44F}"/>
              </a:ext>
            </a:extLst>
          </p:cNvPr>
          <p:cNvSpPr/>
          <p:nvPr/>
        </p:nvSpPr>
        <p:spPr>
          <a:xfrm>
            <a:off x="1720643" y="4896459"/>
            <a:ext cx="3451122" cy="1769807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</a:rPr>
              <a:t>          </a:t>
            </a:r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INSIGHTS</a:t>
            </a:r>
            <a:endParaRPr lang="en-IN" b="1" i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B78B97-811A-61F5-172E-2509E264CB69}"/>
              </a:ext>
            </a:extLst>
          </p:cNvPr>
          <p:cNvSpPr/>
          <p:nvPr/>
        </p:nvSpPr>
        <p:spPr>
          <a:xfrm>
            <a:off x="7497101" y="2349907"/>
            <a:ext cx="3451122" cy="1769807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SQL DATA EXPLORATION</a:t>
            </a:r>
            <a:endParaRPr lang="en-IN" b="1" i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990D4FB-532E-5217-F269-8ADEAEC6C5AC}"/>
              </a:ext>
            </a:extLst>
          </p:cNvPr>
          <p:cNvSpPr/>
          <p:nvPr/>
        </p:nvSpPr>
        <p:spPr>
          <a:xfrm>
            <a:off x="5638802" y="2993917"/>
            <a:ext cx="1406013" cy="599767"/>
          </a:xfrm>
          <a:prstGeom prst="rightArrow">
            <a:avLst/>
          </a:prstGeom>
          <a:gradFill flip="none" rotWithShape="1">
            <a:gsLst>
              <a:gs pos="0">
                <a:srgbClr val="92D050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C111897-0266-D42F-4856-743AF6016552}"/>
              </a:ext>
            </a:extLst>
          </p:cNvPr>
          <p:cNvSpPr/>
          <p:nvPr/>
        </p:nvSpPr>
        <p:spPr>
          <a:xfrm>
            <a:off x="8996516" y="4257368"/>
            <a:ext cx="521111" cy="766901"/>
          </a:xfrm>
          <a:prstGeom prst="downArrow">
            <a:avLst/>
          </a:prstGeom>
          <a:gradFill>
            <a:gsLst>
              <a:gs pos="0">
                <a:srgbClr val="92D050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B506671F-0A8E-1D58-A2CF-C1C2C8F6F9F5}"/>
              </a:ext>
            </a:extLst>
          </p:cNvPr>
          <p:cNvSpPr/>
          <p:nvPr/>
        </p:nvSpPr>
        <p:spPr>
          <a:xfrm>
            <a:off x="5624048" y="5569962"/>
            <a:ext cx="1602662" cy="599768"/>
          </a:xfrm>
          <a:prstGeom prst="leftArrow">
            <a:avLst/>
          </a:prstGeom>
          <a:gradFill>
            <a:gsLst>
              <a:gs pos="0">
                <a:srgbClr val="92D050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1D832B-84E8-C46B-D811-5B742AB4719C}"/>
              </a:ext>
            </a:extLst>
          </p:cNvPr>
          <p:cNvSpPr/>
          <p:nvPr/>
        </p:nvSpPr>
        <p:spPr>
          <a:xfrm>
            <a:off x="3633018" y="329396"/>
            <a:ext cx="5771536" cy="82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92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9516F-F882-D4C4-5F37-7FF9A14FC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505" y="2450198"/>
            <a:ext cx="8718755" cy="4024125"/>
          </a:xfrm>
        </p:spPr>
        <p:txBody>
          <a:bodyPr>
            <a:normAutofit fontScale="77500" lnSpcReduction="20000"/>
          </a:bodyPr>
          <a:lstStyle/>
          <a:p>
            <a:pPr marL="0" lvl="0" indent="0" fontAlgn="base">
              <a:buNone/>
            </a:pPr>
            <a:r>
              <a:rPr lang="en-IN" b="1" i="1" dirty="0"/>
              <a:t>a)Can you get all data about movies?  </a:t>
            </a:r>
          </a:p>
          <a:p>
            <a:pPr marL="0" lvl="0" indent="0" fontAlgn="base">
              <a:buNone/>
            </a:pPr>
            <a:r>
              <a:rPr lang="en-IN" b="1" i="1" dirty="0"/>
              <a:t>b)How do you get all data about directors? </a:t>
            </a:r>
          </a:p>
          <a:p>
            <a:pPr marL="0" lvl="0" indent="0" fontAlgn="base">
              <a:buNone/>
            </a:pPr>
            <a:r>
              <a:rPr lang="en-IN" b="1" i="1" dirty="0"/>
              <a:t>c)Check how many movies are present in IMDB. </a:t>
            </a:r>
          </a:p>
          <a:p>
            <a:pPr marL="0" lvl="0" indent="0" fontAlgn="base">
              <a:buNone/>
            </a:pPr>
            <a:r>
              <a:rPr lang="en-IN" b="1" i="1" dirty="0"/>
              <a:t>d)Find these 3 directors: James Cameron ; Luc Besson ; John Woo </a:t>
            </a:r>
          </a:p>
          <a:p>
            <a:pPr marL="0" lvl="0" indent="0" fontAlgn="base">
              <a:buNone/>
            </a:pPr>
            <a:r>
              <a:rPr lang="en-IN" b="1" i="1" dirty="0"/>
              <a:t>e)Find all directors with name starting with S. </a:t>
            </a:r>
          </a:p>
          <a:p>
            <a:pPr marL="0" lvl="0" indent="0" fontAlgn="base">
              <a:buNone/>
            </a:pPr>
            <a:r>
              <a:rPr lang="en-IN" b="1" i="1" dirty="0"/>
              <a:t>f)Count female directors. </a:t>
            </a:r>
          </a:p>
          <a:p>
            <a:pPr marL="0" lvl="0" indent="0" fontAlgn="base">
              <a:buNone/>
            </a:pPr>
            <a:r>
              <a:rPr lang="en-IN" b="1" i="1" dirty="0"/>
              <a:t>g)Find the name of the 10th first women directors? </a:t>
            </a:r>
          </a:p>
          <a:p>
            <a:pPr marL="0" lvl="0" indent="0" fontAlgn="base">
              <a:buNone/>
            </a:pPr>
            <a:r>
              <a:rPr lang="en-IN" b="1" i="1" dirty="0"/>
              <a:t>h)What are the 3 most popular movies? </a:t>
            </a:r>
          </a:p>
          <a:p>
            <a:pPr marL="0" lvl="0" indent="0" fontAlgn="base">
              <a:buNone/>
            </a:pPr>
            <a:r>
              <a:rPr lang="en-IN" b="1" i="1" dirty="0" err="1"/>
              <a:t>i</a:t>
            </a:r>
            <a:r>
              <a:rPr lang="en-IN" b="1" i="1" dirty="0"/>
              <a:t>)What are the 3 most bankable movies? </a:t>
            </a:r>
          </a:p>
          <a:p>
            <a:pPr marL="0" lvl="0" indent="0" fontAlgn="base">
              <a:buNone/>
            </a:pPr>
            <a:r>
              <a:rPr lang="en-IN" b="1" i="1" dirty="0"/>
              <a:t>j)What is the most awarded average vote since the January 1st, 2000? </a:t>
            </a:r>
          </a:p>
          <a:p>
            <a:pPr marL="0" lvl="0" indent="0" fontAlgn="base">
              <a:buNone/>
            </a:pPr>
            <a:r>
              <a:rPr lang="en-IN" b="1" i="1" dirty="0"/>
              <a:t>k)Which movie(s) were directed by Brenda Chapman? </a:t>
            </a:r>
          </a:p>
          <a:p>
            <a:pPr marL="0" lvl="0" indent="0" fontAlgn="base">
              <a:buNone/>
            </a:pPr>
            <a:r>
              <a:rPr lang="en-IN" b="1" i="1" dirty="0"/>
              <a:t>l)Which director made the most movies? </a:t>
            </a:r>
          </a:p>
          <a:p>
            <a:pPr marL="0" indent="0">
              <a:buNone/>
            </a:pPr>
            <a:r>
              <a:rPr lang="en-IN" b="1" i="1" dirty="0"/>
              <a:t>m)Which director is the most bankable?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12AFAF-4704-22D0-9D37-9E9D0D0DA8C4}"/>
              </a:ext>
            </a:extLst>
          </p:cNvPr>
          <p:cNvSpPr/>
          <p:nvPr/>
        </p:nvSpPr>
        <p:spPr>
          <a:xfrm>
            <a:off x="3318387" y="257575"/>
            <a:ext cx="5771536" cy="82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44CAC7-8CD2-E669-3B19-6A88616DFB16}"/>
              </a:ext>
            </a:extLst>
          </p:cNvPr>
          <p:cNvSpPr/>
          <p:nvPr/>
        </p:nvSpPr>
        <p:spPr>
          <a:xfrm>
            <a:off x="3760838" y="1170039"/>
            <a:ext cx="4670323" cy="102255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Business Problem</a:t>
            </a:r>
          </a:p>
          <a:p>
            <a:pPr algn="ctr"/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4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752653-528E-2444-7837-33ED0C8E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522" y="72074"/>
            <a:ext cx="3814917" cy="8060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7A8748FF-406E-B40E-43F8-4326B3AB1AEC}"/>
              </a:ext>
            </a:extLst>
          </p:cNvPr>
          <p:cNvSpPr/>
          <p:nvPr/>
        </p:nvSpPr>
        <p:spPr>
          <a:xfrm>
            <a:off x="3539614" y="1051109"/>
            <a:ext cx="5761703" cy="995516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tx1"/>
                </a:solidFill>
                <a:latin typeface="Aptos" panose="020B0004020202020204" pitchFamily="34" charset="0"/>
              </a:rPr>
              <a:t>Note:- To merge this both tables use id as primary key from table directors and drop id from table movies and replace </a:t>
            </a:r>
            <a:r>
              <a:rPr lang="en-IN" b="1" i="1" dirty="0" err="1">
                <a:solidFill>
                  <a:schemeClr val="tx1"/>
                </a:solidFill>
                <a:latin typeface="Aptos" panose="020B0004020202020204" pitchFamily="34" charset="0"/>
              </a:rPr>
              <a:t>directors_id</a:t>
            </a:r>
            <a:r>
              <a:rPr lang="en-IN" b="1" i="1" dirty="0">
                <a:solidFill>
                  <a:schemeClr val="tx1"/>
                </a:solidFill>
                <a:latin typeface="Aptos" panose="020B0004020202020204" pitchFamily="34" charset="0"/>
              </a:rPr>
              <a:t> to id.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09783-C47D-D814-EBC7-96C6FC4F5757}"/>
              </a:ext>
            </a:extLst>
          </p:cNvPr>
          <p:cNvSpPr txBox="1"/>
          <p:nvPr/>
        </p:nvSpPr>
        <p:spPr>
          <a:xfrm>
            <a:off x="285136" y="1180965"/>
            <a:ext cx="3161072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SELECT * FROM movies m</a:t>
            </a: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JOIN directors d</a:t>
            </a: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ON m . Director_id = d.id;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A8D736-FD7C-4762-071C-D4CDE4DAC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6" y="2219633"/>
            <a:ext cx="11454580" cy="448582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E8721E5-0D9E-70ED-0951-04E3DA52FD2F}"/>
              </a:ext>
            </a:extLst>
          </p:cNvPr>
          <p:cNvSpPr/>
          <p:nvPr/>
        </p:nvSpPr>
        <p:spPr>
          <a:xfrm>
            <a:off x="9394723" y="152545"/>
            <a:ext cx="2517058" cy="1573162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effectLst>
            <a:glow rad="228600">
              <a:srgbClr val="92D050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Table Relationship &amp; Data Merging Logic</a:t>
            </a:r>
            <a:endParaRPr lang="en-IN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6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F2C5-3277-FC16-E440-7CBF755D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184FDD-9073-CDC2-A95F-C14612582BCC}"/>
              </a:ext>
            </a:extLst>
          </p:cNvPr>
          <p:cNvSpPr/>
          <p:nvPr/>
        </p:nvSpPr>
        <p:spPr>
          <a:xfrm>
            <a:off x="3662516" y="645247"/>
            <a:ext cx="5771536" cy="82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D1E5C7-108E-2AEB-C9FF-AEE12EC0B584}"/>
              </a:ext>
            </a:extLst>
          </p:cNvPr>
          <p:cNvSpPr/>
          <p:nvPr/>
        </p:nvSpPr>
        <p:spPr>
          <a:xfrm>
            <a:off x="4080388" y="1756061"/>
            <a:ext cx="4739146" cy="82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base"/>
            <a:r>
              <a:rPr lang="en-IN" b="1" i="1" dirty="0">
                <a:solidFill>
                  <a:schemeClr val="bg1"/>
                </a:solidFill>
              </a:rPr>
              <a:t>a) Can you get all data about movies?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66F1A-E7E2-5512-69E7-9DBB0A47D1DA}"/>
              </a:ext>
            </a:extLst>
          </p:cNvPr>
          <p:cNvSpPr txBox="1"/>
          <p:nvPr/>
        </p:nvSpPr>
        <p:spPr>
          <a:xfrm>
            <a:off x="4837472" y="2866875"/>
            <a:ext cx="3500283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*  FROM  movies;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4F920-5E1A-A53B-A402-0DE338CFA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10" y="3429000"/>
            <a:ext cx="10844979" cy="326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33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9A8D6F-5975-CF6C-26CE-8BFFC36C5479}"/>
              </a:ext>
            </a:extLst>
          </p:cNvPr>
          <p:cNvSpPr/>
          <p:nvPr/>
        </p:nvSpPr>
        <p:spPr>
          <a:xfrm>
            <a:off x="226143" y="1724813"/>
            <a:ext cx="4975121" cy="149033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IN" b="1" i="1" dirty="0">
                <a:solidFill>
                  <a:schemeClr val="bg1"/>
                </a:solidFill>
                <a:latin typeface="Aptos" panose="020B0004020202020204" pitchFamily="34" charset="0"/>
              </a:rPr>
              <a:t>b) How do you get all data about directors? </a:t>
            </a:r>
          </a:p>
          <a:p>
            <a:pPr lvl="0" fontAlgn="base"/>
            <a:r>
              <a:rPr lang="en-IN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1B7A4-897D-0DFC-28A4-B1A538BB8E18}"/>
              </a:ext>
            </a:extLst>
          </p:cNvPr>
          <p:cNvSpPr txBox="1"/>
          <p:nvPr/>
        </p:nvSpPr>
        <p:spPr>
          <a:xfrm>
            <a:off x="5919019" y="1524758"/>
            <a:ext cx="374609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*  FROM  directors;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401B84-6FB5-EFF6-D934-17B82C13A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749" y="2145438"/>
            <a:ext cx="5121548" cy="4550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23C1CB-601E-3105-254C-1F45BA678DD3}"/>
              </a:ext>
            </a:extLst>
          </p:cNvPr>
          <p:cNvSpPr/>
          <p:nvPr/>
        </p:nvSpPr>
        <p:spPr>
          <a:xfrm>
            <a:off x="3883742" y="162231"/>
            <a:ext cx="4847303" cy="9586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83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8EA194-D461-B976-5AF6-0393512A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11" y="311304"/>
            <a:ext cx="5472883" cy="94196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3F0DFC-0F26-45A7-C192-72E8C19C8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636" y="1577173"/>
            <a:ext cx="6354097" cy="8194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 fontAlgn="base">
              <a:buNone/>
            </a:pPr>
            <a:r>
              <a:rPr lang="en-IN" b="1" i="1" dirty="0">
                <a:solidFill>
                  <a:schemeClr val="bg1"/>
                </a:solidFill>
                <a:latin typeface="Aptos" panose="020B0004020202020204" pitchFamily="34" charset="0"/>
              </a:rPr>
              <a:t>c) Check how many movies are present in IMDB. </a:t>
            </a:r>
          </a:p>
          <a:p>
            <a:pPr marL="0" lvl="0" indent="0" fontAlgn="base">
              <a:buNone/>
            </a:pP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5F8A1-0177-F6E8-3878-B0223401E318}"/>
              </a:ext>
            </a:extLst>
          </p:cNvPr>
          <p:cNvSpPr txBox="1"/>
          <p:nvPr/>
        </p:nvSpPr>
        <p:spPr>
          <a:xfrm>
            <a:off x="3730111" y="2720482"/>
            <a:ext cx="575187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count(*) as Total_movies from movies;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A6A59D-5BB9-302C-8F5F-4CD4FAF4E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826" y="3324910"/>
            <a:ext cx="2579719" cy="1837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15902D-A47B-45FF-AF06-D5C3C332A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54" y="4581004"/>
            <a:ext cx="3056787" cy="196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3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6EB889-CCD2-1581-1EF3-73967888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66" y="163821"/>
            <a:ext cx="5633882" cy="96688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C87581-AE59-A4E9-6970-969FA58F685D}"/>
              </a:ext>
            </a:extLst>
          </p:cNvPr>
          <p:cNvSpPr/>
          <p:nvPr/>
        </p:nvSpPr>
        <p:spPr>
          <a:xfrm>
            <a:off x="2576051" y="1295400"/>
            <a:ext cx="8042787" cy="96688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IN" b="1" i="1" dirty="0">
                <a:solidFill>
                  <a:schemeClr val="bg1"/>
                </a:solidFill>
                <a:latin typeface="Aptos" panose="020B0004020202020204" pitchFamily="34" charset="0"/>
              </a:rPr>
              <a:t>d) Find these 3 directors: James Cameron ; Luc Besson ; John Woo 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</a:pPr>
            <a:endParaRPr lang="en-IN" sz="3200" b="1" i="1" cap="all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B7C8C-0CCE-200A-3070-EBD18264B2E5}"/>
              </a:ext>
            </a:extLst>
          </p:cNvPr>
          <p:cNvSpPr txBox="1"/>
          <p:nvPr/>
        </p:nvSpPr>
        <p:spPr>
          <a:xfrm>
            <a:off x="2969341" y="2721114"/>
            <a:ext cx="7256206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* from directors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where name IN ('James Cameron' , 'Luc Besson' , 'John Woo');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2C1217-159B-EA77-F5D1-EC6B8052A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494" y="3895492"/>
            <a:ext cx="5314654" cy="1954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3F8AEC-CB77-E461-1622-B618BA077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3" y="3690821"/>
            <a:ext cx="2200275" cy="2076450"/>
          </a:xfrm>
          <a:prstGeom prst="rect">
            <a:avLst/>
          </a:prstGeom>
          <a:gradFill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</a:gradFill>
          <a:effectLst>
            <a:glow rad="228600">
              <a:srgbClr val="92D050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3823599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CBA7BF-EC22-20EB-891D-4ECD168D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587" y="163820"/>
            <a:ext cx="4439265" cy="70788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AD3731-C249-BE37-AD4A-62532A510126}"/>
              </a:ext>
            </a:extLst>
          </p:cNvPr>
          <p:cNvSpPr/>
          <p:nvPr/>
        </p:nvSpPr>
        <p:spPr>
          <a:xfrm>
            <a:off x="3972233" y="947793"/>
            <a:ext cx="5604387" cy="70788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fontAlgn="base"/>
            <a:r>
              <a:rPr lang="en-IN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e) Find all directors with name starting with 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0BEA4-B82E-B699-D90D-7E1E86819C2E}"/>
              </a:ext>
            </a:extLst>
          </p:cNvPr>
          <p:cNvSpPr txBox="1"/>
          <p:nvPr/>
        </p:nvSpPr>
        <p:spPr>
          <a:xfrm>
            <a:off x="825909" y="2487070"/>
            <a:ext cx="2998840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* from directors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WHERE name LIKE 'S%';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4B274A-3386-B48A-48E7-D39B240E6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047" y="1731766"/>
            <a:ext cx="5039428" cy="486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0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5D9ED-A7BC-48D2-EA04-FD0694AC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444" y="167480"/>
            <a:ext cx="5909187" cy="10156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E31781-913C-502F-6BB2-B34FAB73AF39}"/>
              </a:ext>
            </a:extLst>
          </p:cNvPr>
          <p:cNvSpPr/>
          <p:nvPr/>
        </p:nvSpPr>
        <p:spPr>
          <a:xfrm>
            <a:off x="4771103" y="1544324"/>
            <a:ext cx="3350341" cy="120936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fontAlgn="base"/>
            <a:r>
              <a:rPr lang="en-IN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f) Count female directors.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0EC99-1C8F-AE88-F90D-F3D66A5A7A72}"/>
              </a:ext>
            </a:extLst>
          </p:cNvPr>
          <p:cNvSpPr txBox="1"/>
          <p:nvPr/>
        </p:nvSpPr>
        <p:spPr>
          <a:xfrm>
            <a:off x="3947652" y="3039155"/>
            <a:ext cx="4896464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COUNT (*) AS female_directors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FROM directors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WHERE gender = 1;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627FC0-6C2D-E752-A021-C5AD5E306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104" y="4340282"/>
            <a:ext cx="3249561" cy="157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7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4C82C4-57BC-0A95-94B6-88A40F7F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1" y="252310"/>
            <a:ext cx="5565058" cy="9177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286584-5804-9711-071F-7C3BC369F709}"/>
              </a:ext>
            </a:extLst>
          </p:cNvPr>
          <p:cNvSpPr/>
          <p:nvPr/>
        </p:nvSpPr>
        <p:spPr>
          <a:xfrm>
            <a:off x="3545757" y="1747699"/>
            <a:ext cx="6070191" cy="132343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IN" b="1" i="1" dirty="0">
                <a:solidFill>
                  <a:schemeClr val="bg1"/>
                </a:solidFill>
                <a:latin typeface="Aptos" panose="020B0004020202020204" pitchFamily="34" charset="0"/>
              </a:rPr>
              <a:t>g) Find the name of the 10th first women directors? 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</a:pPr>
            <a:endParaRPr lang="en-IN" sz="3200" b="1" i="1" cap="all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CE61F-BBE2-629C-E415-BC6E5D914D7B}"/>
              </a:ext>
            </a:extLst>
          </p:cNvPr>
          <p:cNvSpPr txBox="1"/>
          <p:nvPr/>
        </p:nvSpPr>
        <p:spPr>
          <a:xfrm>
            <a:off x="4933947" y="3275029"/>
            <a:ext cx="3313471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* FROM  directors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WHERE  gender = 1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ORDER BY id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LIMIT 1 offset  9;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9F3212-D379-7E1F-2011-B904D52F9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654" y="5008981"/>
            <a:ext cx="418205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EE761-49AD-CAA8-6B2D-071BC516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437" y="166135"/>
            <a:ext cx="5941142" cy="87507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4EFCEE-581B-8F67-B881-0FC994905A2B}"/>
              </a:ext>
            </a:extLst>
          </p:cNvPr>
          <p:cNvSpPr/>
          <p:nvPr/>
        </p:nvSpPr>
        <p:spPr>
          <a:xfrm>
            <a:off x="4116027" y="1316071"/>
            <a:ext cx="4925961" cy="109138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fontAlgn="base"/>
            <a:r>
              <a:rPr lang="en-IN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h) What are the 3 most popular movies?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D3FBF-C2F0-5ECD-7B76-D26620B39FA3}"/>
              </a:ext>
            </a:extLst>
          </p:cNvPr>
          <p:cNvSpPr txBox="1"/>
          <p:nvPr/>
        </p:nvSpPr>
        <p:spPr>
          <a:xfrm>
            <a:off x="3049226" y="2793086"/>
            <a:ext cx="7059561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id , original_title ,  title , popularity , release_date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FROM movies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ORDER BY popularity desc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LIMIT 3 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608FA0-9FC9-3FCF-699F-E0AC6DDE4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293" y="4502160"/>
            <a:ext cx="6487430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24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7C12C2-CE55-1886-F3D5-BD367468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34" y="315260"/>
            <a:ext cx="5862484" cy="10708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9D5E2A-8F76-2212-B4FF-D24AA46E327E}"/>
              </a:ext>
            </a:extLst>
          </p:cNvPr>
          <p:cNvSpPr/>
          <p:nvPr/>
        </p:nvSpPr>
        <p:spPr>
          <a:xfrm>
            <a:off x="3175820" y="1701851"/>
            <a:ext cx="6794090" cy="10708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IN" sz="2000" b="1" i="1" cap="all" dirty="0" err="1">
                <a:solidFill>
                  <a:schemeClr val="bg1"/>
                </a:solidFill>
                <a:latin typeface="Aptos" panose="020B0004020202020204" pitchFamily="34" charset="0"/>
              </a:rPr>
              <a:t>i</a:t>
            </a:r>
            <a:r>
              <a:rPr lang="en-IN" sz="2000" b="1" i="1" cap="all" dirty="0">
                <a:solidFill>
                  <a:schemeClr val="bg1"/>
                </a:solidFill>
                <a:latin typeface="Aptos" panose="020B0004020202020204" pitchFamily="34" charset="0"/>
              </a:rPr>
              <a:t>) What are the 3 most bankable movies?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658AF-C94F-3CAC-D523-0C009BABBDD8}"/>
              </a:ext>
            </a:extLst>
          </p:cNvPr>
          <p:cNvSpPr txBox="1"/>
          <p:nvPr/>
        </p:nvSpPr>
        <p:spPr>
          <a:xfrm>
            <a:off x="2428566" y="3086191"/>
            <a:ext cx="8072285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   id,    title,    revenue,    budget,    (revenue - budget) AS profit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FROM movies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ORDER BY profit DESC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LIMIT 3;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F3D0D6-8D1C-AED0-820F-AF90DD8DD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57" y="4725375"/>
            <a:ext cx="5239481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1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CB867-8F1C-A292-4892-9987FDC6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097" y="212981"/>
            <a:ext cx="5007078" cy="7800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95A4E7-32F5-4292-7879-D08C6BD4A311}"/>
              </a:ext>
            </a:extLst>
          </p:cNvPr>
          <p:cNvSpPr/>
          <p:nvPr/>
        </p:nvSpPr>
        <p:spPr>
          <a:xfrm>
            <a:off x="2054942" y="1136135"/>
            <a:ext cx="8839200" cy="78007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fontAlgn="base"/>
            <a:r>
              <a:rPr lang="en-IN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j) What is the most awarded average vote since the January 1st, 2000?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57901-1C2F-F6E7-30ED-AB9495E9355A}"/>
              </a:ext>
            </a:extLst>
          </p:cNvPr>
          <p:cNvSpPr txBox="1"/>
          <p:nvPr/>
        </p:nvSpPr>
        <p:spPr>
          <a:xfrm>
            <a:off x="1317522" y="2059290"/>
            <a:ext cx="10255046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SELECT id , original_title , title , vote_average , vote_count , release_date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FROM movies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WHERE release_date &gt;= '2000-01-01’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  AND  vote_average = (    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            SELECT MAX(vote_average)    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            FROM movies    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            WHERE release_date &gt;= '2000-01-01'  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B35B5-A362-8EFE-383A-D67BD3E79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185" y="4449136"/>
            <a:ext cx="8897592" cy="233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4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B531EB-A67A-C7D5-7112-B4AEDB64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302" y="153988"/>
            <a:ext cx="4399936" cy="8882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CAF09F-267B-B178-EBFB-FE773ED38CE2}"/>
              </a:ext>
            </a:extLst>
          </p:cNvPr>
          <p:cNvSpPr/>
          <p:nvPr/>
        </p:nvSpPr>
        <p:spPr>
          <a:xfrm>
            <a:off x="2802193" y="1258529"/>
            <a:ext cx="6794091" cy="8882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fontAlgn="base"/>
            <a:r>
              <a:rPr lang="en-IN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k) Which movie(s) were directed by Brenda Chapman?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0F6F8-9647-1A62-FA62-1B672437D192}"/>
              </a:ext>
            </a:extLst>
          </p:cNvPr>
          <p:cNvSpPr txBox="1"/>
          <p:nvPr/>
        </p:nvSpPr>
        <p:spPr>
          <a:xfrm>
            <a:off x="1111045" y="2363070"/>
            <a:ext cx="10776155" cy="16312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m.id, m.original_title, m.title, m.release_date, d.name AS director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FROM movies  m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JOIN directors d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ON m.director_id  =  d.id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WHERE d.name = 'Brenda Chapman';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B61CAA-7DF6-C7F0-C7E9-9ACE4FDF8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586" y="4210596"/>
            <a:ext cx="6105341" cy="1714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C4C828-0ED9-B528-4DFC-AC30A05F804C}"/>
              </a:ext>
            </a:extLst>
          </p:cNvPr>
          <p:cNvSpPr txBox="1"/>
          <p:nvPr/>
        </p:nvSpPr>
        <p:spPr>
          <a:xfrm>
            <a:off x="2260927" y="5059143"/>
            <a:ext cx="6096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ptos" panose="020B0004020202020204" pitchFamily="34" charset="0"/>
              </a:rPr>
              <a:t>There are no movies in the dataset that were directed by Brenda Chapman. </a:t>
            </a:r>
            <a:endParaRPr lang="en-IN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885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4D3244-C2DE-4EF6-99EA-9EF41FBF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552" y="63130"/>
            <a:ext cx="5705167" cy="78990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8AE02E-772C-BF8D-5217-5FA233A21608}"/>
              </a:ext>
            </a:extLst>
          </p:cNvPr>
          <p:cNvSpPr/>
          <p:nvPr/>
        </p:nvSpPr>
        <p:spPr>
          <a:xfrm>
            <a:off x="3834580" y="977570"/>
            <a:ext cx="5093110" cy="7899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fontAlgn="base"/>
            <a:r>
              <a:rPr lang="en-IN" sz="2000" b="1" i="1" dirty="0">
                <a:solidFill>
                  <a:schemeClr val="bg1"/>
                </a:solidFill>
                <a:latin typeface="Aptos" panose="020B0004020202020204" pitchFamily="34" charset="0"/>
              </a:rPr>
              <a:t>l) Which director made the most movies?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A045F-5CFC-ACDD-4D0A-064E65CB21B4}"/>
              </a:ext>
            </a:extLst>
          </p:cNvPr>
          <p:cNvSpPr txBox="1"/>
          <p:nvPr/>
        </p:nvSpPr>
        <p:spPr>
          <a:xfrm>
            <a:off x="4188542" y="1997839"/>
            <a:ext cx="4355689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  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       d.id, d.name  AS  director_name,   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       COUNT(m.id) AS  total_movies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FROM movies m</a:t>
            </a:r>
            <a:b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JOIN directors d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ON  m.director_id  = d.id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GROUP BY  d.id, d.name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ORDER BY total_movies DESC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LIMIT 1;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7659A0-AF82-1FA1-D82F-089E4310A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290" y="5090520"/>
            <a:ext cx="4355689" cy="154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8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C64C7-089C-F522-EB22-AAE38A9D3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458" y="134324"/>
            <a:ext cx="5498690" cy="87507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0C158D-F41E-10D7-7BB0-F9995E27AAE7}"/>
              </a:ext>
            </a:extLst>
          </p:cNvPr>
          <p:cNvSpPr/>
          <p:nvPr/>
        </p:nvSpPr>
        <p:spPr>
          <a:xfrm>
            <a:off x="2536722" y="1327355"/>
            <a:ext cx="7118555" cy="87507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IN" sz="2000" b="1" i="1" cap="all" dirty="0">
                <a:solidFill>
                  <a:schemeClr val="bg1"/>
                </a:solidFill>
                <a:latin typeface="Aptos" panose="020B0004020202020204" pitchFamily="34" charset="0"/>
              </a:rPr>
              <a:t>m) Which director is the most bankable?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07141-43BA-BB3F-450E-050C9F7D62EB}"/>
              </a:ext>
            </a:extLst>
          </p:cNvPr>
          <p:cNvSpPr txBox="1"/>
          <p:nvPr/>
        </p:nvSpPr>
        <p:spPr>
          <a:xfrm>
            <a:off x="529098" y="2441728"/>
            <a:ext cx="5804719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SELECT    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       d.id, d.name  AS  director_name,   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       SUM(m.revenue  -  m.budget)  AS  total_profit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FROM movies m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JOIN directors d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ON m.director_id = d.id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GROUP BY d.id, d.name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ORDER BY total_profit DESC</a:t>
            </a:r>
          </a:p>
          <a:p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LIMIT 1;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ECF65-ECCF-7D4B-B4C1-147D7A70C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304" y="2914811"/>
            <a:ext cx="4001058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79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808907-D0CB-F218-017C-761589AD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035" y="88491"/>
            <a:ext cx="5960807" cy="65876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414DA677-8C87-D142-2EBB-27B1D5DEC1FB}"/>
              </a:ext>
            </a:extLst>
          </p:cNvPr>
          <p:cNvSpPr/>
          <p:nvPr/>
        </p:nvSpPr>
        <p:spPr>
          <a:xfrm>
            <a:off x="4984955" y="813403"/>
            <a:ext cx="3116827" cy="442451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i="1" dirty="0">
                <a:solidFill>
                  <a:schemeClr val="tx1"/>
                </a:solidFill>
                <a:latin typeface="Aptos" panose="020B0004020202020204" pitchFamily="34" charset="0"/>
              </a:rPr>
              <a:t>     INSIGHTS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0DEF70-38CA-ED7A-5C00-0EB2612A78EE}"/>
              </a:ext>
            </a:extLst>
          </p:cNvPr>
          <p:cNvSpPr/>
          <p:nvPr/>
        </p:nvSpPr>
        <p:spPr>
          <a:xfrm>
            <a:off x="285136" y="1322003"/>
            <a:ext cx="4699819" cy="5447505"/>
          </a:xfrm>
          <a:prstGeom prst="roundRect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The dataset contains 47 movies and 2349   directors, with clean and validated data in </a:t>
            </a:r>
          </a:p>
          <a:p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      all critical columns.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Only 150 female directors were identified,  highlighting low female representation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 in movie direction.</a:t>
            </a:r>
            <a:r>
              <a:rPr lang="en-US" sz="1600" b="1" dirty="0"/>
              <a:t> 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The top 3 most popular movies based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on popularity score are:-</a:t>
            </a:r>
          </a:p>
          <a:p>
            <a:r>
              <a:rPr lang="en-US" sz="1600" b="1" i="1" dirty="0">
                <a:latin typeface="Aptos" panose="020B0004020202020204" pitchFamily="34" charset="0"/>
              </a:rPr>
              <a:t>       1.Jurassic World</a:t>
            </a:r>
            <a:endParaRPr lang="en-US" sz="1600" b="1" dirty="0">
              <a:latin typeface="Aptos" panose="020B0004020202020204" pitchFamily="34" charset="0"/>
            </a:endParaRPr>
          </a:p>
          <a:p>
            <a:r>
              <a:rPr lang="en-US" sz="1600" b="1" i="1" dirty="0">
                <a:latin typeface="Aptos" panose="020B0004020202020204" pitchFamily="34" charset="0"/>
              </a:rPr>
              <a:t>      2.Captain America: Civil War</a:t>
            </a:r>
            <a:endParaRPr lang="en-US" sz="1600" b="1" dirty="0">
              <a:latin typeface="Aptos" panose="020B0004020202020204" pitchFamily="34" charset="0"/>
            </a:endParaRPr>
          </a:p>
          <a:p>
            <a:r>
              <a:rPr lang="en-US" sz="1600" b="1" i="1" dirty="0">
                <a:latin typeface="Aptos" panose="020B0004020202020204" pitchFamily="34" charset="0"/>
              </a:rPr>
              <a:t>      3.Avatar</a:t>
            </a:r>
          </a:p>
          <a:p>
            <a:endParaRPr lang="en-US" sz="1600" b="1" i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James Cameron emerged as the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most bankable director, generating a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total   profit of 4,195,999,275.</a:t>
            </a:r>
          </a:p>
          <a:p>
            <a:endParaRPr 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IN" sz="16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9702B5-95A5-C486-5E04-6DA337694EAB}"/>
              </a:ext>
            </a:extLst>
          </p:cNvPr>
          <p:cNvSpPr/>
          <p:nvPr/>
        </p:nvSpPr>
        <p:spPr>
          <a:xfrm>
            <a:off x="6843251" y="1322003"/>
            <a:ext cx="5132439" cy="5447505"/>
          </a:xfrm>
          <a:prstGeom prst="roundRect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Movie bankability was evaluated using profit (revenue − budget) rather than revenue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 alone, providing a more accurate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 financial  insight.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The highest average vote since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 January 1, 2000  is 7.6, achieved by:-</a:t>
            </a:r>
          </a:p>
          <a:p>
            <a:r>
              <a:rPr lang="en-US" sz="1600" b="1" i="1" dirty="0">
                <a:latin typeface="Aptos" panose="020B0004020202020204" pitchFamily="34" charset="0"/>
              </a:rPr>
              <a:t>      1.The Dark Knight Rises</a:t>
            </a:r>
            <a:endParaRPr lang="en-US" sz="1600" b="1" dirty="0">
              <a:latin typeface="Aptos" panose="020B0004020202020204" pitchFamily="34" charset="0"/>
            </a:endParaRPr>
          </a:p>
          <a:p>
            <a:r>
              <a:rPr lang="en-US" sz="1600" b="1" i="1" dirty="0">
                <a:latin typeface="Aptos" panose="020B0004020202020204" pitchFamily="34" charset="0"/>
              </a:rPr>
              <a:t>     2.The Hobbit: The Desolation of Smaug</a:t>
            </a:r>
            <a:endParaRPr lang="en-US" sz="1600" b="1" dirty="0">
              <a:latin typeface="Aptos" panose="020B0004020202020204" pitchFamily="34" charset="0"/>
            </a:endParaRPr>
          </a:p>
          <a:p>
            <a:r>
              <a:rPr lang="en-US" sz="1600" b="1" i="1" dirty="0">
                <a:latin typeface="Aptos" panose="020B0004020202020204" pitchFamily="34" charset="0"/>
              </a:rPr>
              <a:t>     3.Toy Story 3</a:t>
            </a:r>
          </a:p>
          <a:p>
            <a:endParaRPr lang="en-US" sz="1600" b="1" i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Gore Verbinski directed the highest number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of movies (3 movies) in the dataset.</a:t>
            </a:r>
          </a:p>
          <a:p>
            <a:endParaRPr lang="en-US" sz="16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No movies directed by Brenda Chapman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 were found in the dataset, indicating </a:t>
            </a:r>
          </a:p>
          <a:p>
            <a:r>
              <a:rPr lang="en-US" sz="1600" b="1" dirty="0">
                <a:latin typeface="Aptos" panose="020B0004020202020204" pitchFamily="34" charset="0"/>
              </a:rPr>
              <a:t>      data  limitation or scope restriction.</a:t>
            </a:r>
          </a:p>
          <a:p>
            <a:endParaRPr lang="en-IN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02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64F6D-D154-EB3B-59CB-F37F4F24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915" y="165843"/>
            <a:ext cx="5191433" cy="8272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glow rad="2286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bg1"/>
                </a:solidFill>
                <a:latin typeface="Aptos" panose="020B0004020202020204" pitchFamily="34" charset="0"/>
              </a:rPr>
              <a:t>IMDB MOVIES</a:t>
            </a:r>
            <a:endParaRPr lang="en-IN" sz="3200" b="1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D394DDF3-0E62-4107-B205-8A1AA63DAC5B}"/>
              </a:ext>
            </a:extLst>
          </p:cNvPr>
          <p:cNvSpPr/>
          <p:nvPr/>
        </p:nvSpPr>
        <p:spPr>
          <a:xfrm>
            <a:off x="3426540" y="1242910"/>
            <a:ext cx="5968181" cy="674381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i="1" dirty="0">
                <a:solidFill>
                  <a:schemeClr val="tx1"/>
                </a:solidFill>
                <a:latin typeface="Aptos" panose="020B0004020202020204" pitchFamily="34" charset="0"/>
              </a:rPr>
              <a:t>  Business Recommendations</a:t>
            </a:r>
          </a:p>
        </p:txBody>
      </p:sp>
      <p:sp>
        <p:nvSpPr>
          <p:cNvPr id="6" name="Plaque 5">
            <a:extLst>
              <a:ext uri="{FF2B5EF4-FFF2-40B4-BE49-F238E27FC236}">
                <a16:creationId xmlns:a16="http://schemas.microsoft.com/office/drawing/2014/main" id="{63C6AB19-BEA6-CE18-F895-0B82D2339876}"/>
              </a:ext>
            </a:extLst>
          </p:cNvPr>
          <p:cNvSpPr/>
          <p:nvPr/>
        </p:nvSpPr>
        <p:spPr>
          <a:xfrm>
            <a:off x="78658" y="2310581"/>
            <a:ext cx="11916697" cy="4381575"/>
          </a:xfrm>
          <a:prstGeom prst="plaque">
            <a:avLst/>
          </a:prstGeom>
          <a:gradFill flip="none" rotWithShape="1">
            <a:gsLst>
              <a:gs pos="0">
                <a:schemeClr val="accent4"/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tx1"/>
                </a:solidFill>
                <a:latin typeface="Aptos" panose="020B0004020202020204" pitchFamily="34" charset="0"/>
              </a:rPr>
              <a:t>Focus on profit-based decision making rather than revenue alone to accurately evaluate movie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tx1"/>
                </a:solidFill>
                <a:latin typeface="Aptos" panose="020B0004020202020204" pitchFamily="34" charset="0"/>
              </a:rPr>
              <a:t>Invest in high-performing directors like James Cameron, who have demonstrated consistent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tx1"/>
                </a:solidFill>
                <a:latin typeface="Aptos" panose="020B0004020202020204" pitchFamily="34" charset="0"/>
              </a:rPr>
              <a:t>Use popularity metrics along with financial indicators to better predict audience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tx1"/>
                </a:solidFill>
                <a:latin typeface="Aptos" panose="020B0004020202020204" pitchFamily="34" charset="0"/>
              </a:rPr>
              <a:t>Encourage and support female directors, as data shows low representation despite growing market demand for diverse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tx1"/>
                </a:solidFill>
                <a:latin typeface="Aptos" panose="020B0004020202020204" pitchFamily="34" charset="0"/>
              </a:rPr>
              <a:t>Prioritize projects with a balanced combination of budget control, popularity, and audience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tx1"/>
                </a:solidFill>
                <a:latin typeface="Aptos" panose="020B0004020202020204" pitchFamily="34" charset="0"/>
              </a:rPr>
              <a:t>Apply data-driven analysis early in the production planning phase to reduce financial risk.</a:t>
            </a:r>
            <a:endParaRPr lang="en-IN" sz="1600" b="1" i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6BCCA69-3944-5BC7-9C0A-D7F4BB0AB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22" y="165843"/>
            <a:ext cx="2619375" cy="1743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12719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423762-8E9A-8CBE-5819-696AB9BCE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72" y="766302"/>
            <a:ext cx="8573655" cy="54870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rgbClr val="92D050">
                <a:alpha val="40000"/>
              </a:srgbClr>
            </a:glow>
            <a:reflection blurRad="12700" stA="38000" endPos="28000" dist="5000" dir="5400000" sy="-100000" algn="bl" rotWithShape="0"/>
          </a:effectLst>
          <a:scene3d>
            <a:camera prst="orthographicFront"/>
            <a:lightRig rig="flat" dir="t"/>
          </a:scene3d>
          <a:sp3d prstMaterial="translucentPowder"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226153636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610</TotalTime>
  <Words>1492</Words>
  <Application>Microsoft Office PowerPoint</Application>
  <PresentationFormat>Widescreen</PresentationFormat>
  <Paragraphs>205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Century Gothic</vt:lpstr>
      <vt:lpstr>Vapor Trail</vt:lpstr>
      <vt:lpstr>PowerPoint Presentation</vt:lpstr>
      <vt:lpstr>Introduction</vt:lpstr>
      <vt:lpstr>PowerPoint Presentation</vt:lpstr>
      <vt:lpstr>PowerPoint Presentation</vt:lpstr>
      <vt:lpstr>IMDB MOVIES</vt:lpstr>
      <vt:lpstr>PowerPoint Presentation</vt:lpstr>
      <vt:lpstr>PowerPoint Presentation</vt:lpstr>
      <vt:lpstr>IMDB MOVIES</vt:lpstr>
      <vt:lpstr>PowerPoint Presentation</vt:lpstr>
      <vt:lpstr>PowerPoint Presentation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IMDB MOVIES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Srashti sharma</dc:creator>
  <cp:lastModifiedBy>Srashti sharma</cp:lastModifiedBy>
  <cp:revision>3</cp:revision>
  <dcterms:created xsi:type="dcterms:W3CDTF">2026-01-20T04:10:31Z</dcterms:created>
  <dcterms:modified xsi:type="dcterms:W3CDTF">2026-01-21T04:48:49Z</dcterms:modified>
</cp:coreProperties>
</file>